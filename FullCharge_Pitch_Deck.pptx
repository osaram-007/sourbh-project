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74EC7-2A1F-454D-8EBD-8B8CFDE01A12}" v="9" dt="2026-07-08T23:30:12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u Charan Rayadurgam" userId="079846307941a7e5" providerId="LiveId" clId="{E706F467-AA9E-4706-B5B3-5F8FC56D362E}"/>
    <pc:docChg chg="undo redo custSel modSld">
      <pc:chgData name="Guru Charan Rayadurgam" userId="079846307941a7e5" providerId="LiveId" clId="{E706F467-AA9E-4706-B5B3-5F8FC56D362E}" dt="2026-07-09T09:23:49.256" v="413" actId="20577"/>
      <pc:docMkLst>
        <pc:docMk/>
      </pc:docMkLst>
      <pc:sldChg chg="addSp delSp modSp mod">
        <pc:chgData name="Guru Charan Rayadurgam" userId="079846307941a7e5" providerId="LiveId" clId="{E706F467-AA9E-4706-B5B3-5F8FC56D362E}" dt="2026-07-08T23:30:19.627" v="31" actId="1076"/>
        <pc:sldMkLst>
          <pc:docMk/>
          <pc:sldMk cId="0" sldId="256"/>
        </pc:sldMkLst>
        <pc:spChg chg="del mod">
          <ac:chgData name="Guru Charan Rayadurgam" userId="079846307941a7e5" providerId="LiveId" clId="{E706F467-AA9E-4706-B5B3-5F8FC56D362E}" dt="2026-07-08T23:27:42.428" v="15" actId="478"/>
          <ac:spMkLst>
            <pc:docMk/>
            <pc:sldMk cId="0" sldId="256"/>
            <ac:spMk id="4" creationId="{00000000-0000-0000-0000-000000000000}"/>
          </ac:spMkLst>
        </pc:spChg>
        <pc:graphicFrameChg chg="add mod">
          <ac:chgData name="Guru Charan Rayadurgam" userId="079846307941a7e5" providerId="LiveId" clId="{E706F467-AA9E-4706-B5B3-5F8FC56D362E}" dt="2026-07-08T23:29:05.287" v="22" actId="478"/>
          <ac:graphicFrameMkLst>
            <pc:docMk/>
            <pc:sldMk cId="0" sldId="256"/>
            <ac:graphicFrameMk id="13" creationId="{6DD41559-753B-5DD4-F92E-7D329E2118C2}"/>
          </ac:graphicFrameMkLst>
        </pc:graphicFrameChg>
        <pc:picChg chg="del mod">
          <ac:chgData name="Guru Charan Rayadurgam" userId="079846307941a7e5" providerId="LiveId" clId="{E706F467-AA9E-4706-B5B3-5F8FC56D362E}" dt="2026-07-08T23:27:43.542" v="16" actId="478"/>
          <ac:picMkLst>
            <pc:docMk/>
            <pc:sldMk cId="0" sldId="256"/>
            <ac:picMk id="5" creationId="{00000000-0000-0000-0000-000000000000}"/>
          </ac:picMkLst>
        </pc:picChg>
        <pc:picChg chg="add del mod">
          <ac:chgData name="Guru Charan Rayadurgam" userId="079846307941a7e5" providerId="LiveId" clId="{E706F467-AA9E-4706-B5B3-5F8FC56D362E}" dt="2026-07-08T23:30:19.627" v="31" actId="1076"/>
          <ac:picMkLst>
            <pc:docMk/>
            <pc:sldMk cId="0" sldId="256"/>
            <ac:picMk id="12" creationId="{5202377C-CC6B-1A56-F7DB-D032E7882151}"/>
          </ac:picMkLst>
        </pc:picChg>
      </pc:sldChg>
      <pc:sldChg chg="addSp delSp modSp mod">
        <pc:chgData name="Guru Charan Rayadurgam" userId="079846307941a7e5" providerId="LiveId" clId="{E706F467-AA9E-4706-B5B3-5F8FC56D362E}" dt="2026-07-08T23:31:15.361" v="42" actId="207"/>
        <pc:sldMkLst>
          <pc:docMk/>
          <pc:sldMk cId="0" sldId="257"/>
        </pc:sldMkLst>
        <pc:spChg chg="mod">
          <ac:chgData name="Guru Charan Rayadurgam" userId="079846307941a7e5" providerId="LiveId" clId="{E706F467-AA9E-4706-B5B3-5F8FC56D362E}" dt="2026-07-08T23:30:55.533" v="34" actId="208"/>
          <ac:spMkLst>
            <pc:docMk/>
            <pc:sldMk cId="0" sldId="257"/>
            <ac:spMk id="5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1:02.542" v="38" actId="2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0:59.139" v="36" actId="208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Guru Charan Rayadurgam" userId="079846307941a7e5" providerId="LiveId" clId="{E706F467-AA9E-4706-B5B3-5F8FC56D362E}" dt="2026-07-08T23:31:15.027" v="41" actId="21"/>
          <ac:spMkLst>
            <pc:docMk/>
            <pc:sldMk cId="0" sldId="257"/>
            <ac:spMk id="21" creationId="{00000000-0000-0000-0000-000000000000}"/>
          </ac:spMkLst>
        </pc:spChg>
        <pc:picChg chg="mod">
          <ac:chgData name="Guru Charan Rayadurgam" userId="079846307941a7e5" providerId="LiveId" clId="{E706F467-AA9E-4706-B5B3-5F8FC56D362E}" dt="2026-07-08T23:31:15.361" v="42" actId="207"/>
          <ac:picMkLst>
            <pc:docMk/>
            <pc:sldMk cId="0" sldId="257"/>
            <ac:picMk id="20" creationId="{00000000-0000-0000-0000-000000000000}"/>
          </ac:picMkLst>
        </pc:picChg>
      </pc:sldChg>
      <pc:sldChg chg="modSp mod">
        <pc:chgData name="Guru Charan Rayadurgam" userId="079846307941a7e5" providerId="LiveId" clId="{E706F467-AA9E-4706-B5B3-5F8FC56D362E}" dt="2026-07-08T23:31:25.402" v="46" actId="208"/>
        <pc:sldMkLst>
          <pc:docMk/>
          <pc:sldMk cId="0" sldId="259"/>
        </pc:sldMkLst>
        <pc:spChg chg="mod">
          <ac:chgData name="Guru Charan Rayadurgam" userId="079846307941a7e5" providerId="LiveId" clId="{E706F467-AA9E-4706-B5B3-5F8FC56D362E}" dt="2026-07-08T23:31:21.065" v="44" actId="208"/>
          <ac:spMkLst>
            <pc:docMk/>
            <pc:sldMk cId="0" sldId="259"/>
            <ac:spMk id="5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1:25.402" v="46" actId="208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Guru Charan Rayadurgam" userId="079846307941a7e5" providerId="LiveId" clId="{E706F467-AA9E-4706-B5B3-5F8FC56D362E}" dt="2026-07-09T07:38:22.066" v="304" actId="20577"/>
        <pc:sldMkLst>
          <pc:docMk/>
          <pc:sldMk cId="0" sldId="260"/>
        </pc:sldMkLst>
        <pc:spChg chg="mod">
          <ac:chgData name="Guru Charan Rayadurgam" userId="079846307941a7e5" providerId="LiveId" clId="{E706F467-AA9E-4706-B5B3-5F8FC56D362E}" dt="2026-07-09T07:38:22.066" v="304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Guru Charan Rayadurgam" userId="079846307941a7e5" providerId="LiveId" clId="{E706F467-AA9E-4706-B5B3-5F8FC56D362E}" dt="2026-07-09T07:45:01.106" v="367" actId="14100"/>
        <pc:sldMkLst>
          <pc:docMk/>
          <pc:sldMk cId="0" sldId="261"/>
        </pc:sldMkLst>
        <pc:spChg chg="mod">
          <ac:chgData name="Guru Charan Rayadurgam" userId="079846307941a7e5" providerId="LiveId" clId="{E706F467-AA9E-4706-B5B3-5F8FC56D362E}" dt="2026-07-09T07:42:54.224" v="30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9T07:43:07.645" v="306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9T07:43:07.645" v="306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9T07:45:01.106" v="367" actId="14100"/>
          <ac:spMkLst>
            <pc:docMk/>
            <pc:sldMk cId="0" sldId="261"/>
            <ac:spMk id="20" creationId="{8D04FA75-B7F0-82CD-AC55-C4717387C1D4}"/>
          </ac:spMkLst>
        </pc:spChg>
      </pc:sldChg>
      <pc:sldChg chg="modSp mod">
        <pc:chgData name="Guru Charan Rayadurgam" userId="079846307941a7e5" providerId="LiveId" clId="{E706F467-AA9E-4706-B5B3-5F8FC56D362E}" dt="2026-07-08T23:31:50.234" v="49" actId="207"/>
        <pc:sldMkLst>
          <pc:docMk/>
          <pc:sldMk cId="0" sldId="262"/>
        </pc:sldMkLst>
        <pc:spChg chg="mod">
          <ac:chgData name="Guru Charan Rayadurgam" userId="079846307941a7e5" providerId="LiveId" clId="{E706F467-AA9E-4706-B5B3-5F8FC56D362E}" dt="2026-07-08T23:31:45.764" v="47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1:50.234" v="49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1:48.231" v="48" actId="207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Guru Charan Rayadurgam" userId="079846307941a7e5" providerId="LiveId" clId="{E706F467-AA9E-4706-B5B3-5F8FC56D362E}" dt="2026-07-08T23:34:33.219" v="95" actId="404"/>
        <pc:sldMkLst>
          <pc:docMk/>
          <pc:sldMk cId="0" sldId="264"/>
        </pc:sldMkLst>
        <pc:spChg chg="mod">
          <ac:chgData name="Guru Charan Rayadurgam" userId="079846307941a7e5" providerId="LiveId" clId="{E706F467-AA9E-4706-B5B3-5F8FC56D362E}" dt="2026-07-08T23:34:23.326" v="93" actId="108"/>
          <ac:spMkLst>
            <pc:docMk/>
            <pc:sldMk cId="0" sldId="264"/>
            <ac:spMk id="3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2:34.632" v="54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3:03.926" v="58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3:59.970" v="71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3:09.218" v="59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4:33.219" v="95" actId="40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8T23:33:00.139" v="57" actId="207"/>
          <ac:spMkLst>
            <pc:docMk/>
            <pc:sldMk cId="0" sldId="264"/>
            <ac:spMk id="22" creationId="{8BAA7F89-7255-DEAA-D88A-E0CFE33CA050}"/>
          </ac:spMkLst>
        </pc:spChg>
      </pc:sldChg>
      <pc:sldChg chg="modSp mod">
        <pc:chgData name="Guru Charan Rayadurgam" userId="079846307941a7e5" providerId="LiveId" clId="{E706F467-AA9E-4706-B5B3-5F8FC56D362E}" dt="2026-07-09T09:23:49.256" v="413" actId="20577"/>
        <pc:sldMkLst>
          <pc:docMk/>
          <pc:sldMk cId="0" sldId="265"/>
        </pc:sldMkLst>
        <pc:spChg chg="mod">
          <ac:chgData name="Guru Charan Rayadurgam" userId="079846307941a7e5" providerId="LiveId" clId="{E706F467-AA9E-4706-B5B3-5F8FC56D362E}" dt="2026-07-09T04:41:50.300" v="162" actId="31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Guru Charan Rayadurgam" userId="079846307941a7e5" providerId="LiveId" clId="{E706F467-AA9E-4706-B5B3-5F8FC56D362E}" dt="2026-07-09T09:23:49.256" v="413" actId="20577"/>
          <ac:spMkLst>
            <pc:docMk/>
            <pc:sldMk cId="0" sldId="265"/>
            <ac:spMk id="20" creationId="{2BCA7BB3-2C42-5DFE-487D-F7FB5EDC8BB3}"/>
          </ac:spMkLst>
        </pc:spChg>
        <pc:spChg chg="mod">
          <ac:chgData name="Guru Charan Rayadurgam" userId="079846307941a7e5" providerId="LiveId" clId="{E706F467-AA9E-4706-B5B3-5F8FC56D362E}" dt="2026-07-09T09:23:33.933" v="391" actId="20577"/>
          <ac:spMkLst>
            <pc:docMk/>
            <pc:sldMk cId="0" sldId="265"/>
            <ac:spMk id="26" creationId="{CDF9A108-2895-5B47-19A1-97E8D7E31E6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3D"/>
                </a:solidFill>
                <a:latin typeface="Arial"/>
              </a:defRPr>
            </a:pPr>
            <a:r>
              <a:rPr lang="en-IN" sz="1300" b="0" i="0" u="none" strike="noStrike" dirty="0">
                <a:solidFill>
                  <a:srgbClr val="0F2A3D"/>
                </a:solidFill>
                <a:latin typeface="Arial"/>
              </a:rPr>
              <a:t>LTV : CAC ≈ 5.3x (target 3x+)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 vs CAC (INR)</c:v>
                </c:pt>
              </c:strCache>
            </c:strRef>
          </c:tx>
          <c:spPr>
            <a:solidFill>
              <a:srgbClr val="0F2A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E2-4652-87AB-F7FA521A7DDE}"/>
              </c:ext>
            </c:extLst>
          </c:dPt>
          <c:dPt>
            <c:idx val="1"/>
            <c:invertIfNegative val="0"/>
            <c:bubble3D val="0"/>
            <c:spPr>
              <a:solidFill>
                <a:srgbClr val="1274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4E2-4652-87AB-F7FA521A7DD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A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CAC</c:v>
                </c:pt>
                <c:pt idx="1">
                  <c:v>LTV (12mo)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</c:v>
                </c:pt>
                <c:pt idx="1">
                  <c:v>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E2-4652-87AB-F7FA521A7D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9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114800" cy="4114800"/>
          </a:xfrm>
          <a:prstGeom prst="ellipse">
            <a:avLst/>
          </a:prstGeom>
          <a:solidFill>
            <a:srgbClr val="12747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C6F135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69164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HIMSHIKHAR 2026 · CAPSTONE PITCH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FullCharge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 charger. One payment.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Mandi  •  Team: Team 2 (FULLCHARGE)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Sourabh Saha · Guru Charan R  ·  Sagar Verma · Amrit Murjani · Atharva Sonwane </a:t>
            </a:r>
            <a:endParaRPr lang="en-US" sz="1400" dirty="0"/>
          </a:p>
        </p:txBody>
      </p:sp>
      <p:pic>
        <p:nvPicPr>
          <p:cNvPr id="12" name="Picture 11" descr="Full Charge.&#10;&#10;AI-generated content may be incorrect.">
            <a:extLst>
              <a:ext uri="{FF2B5EF4-FFF2-40B4-BE49-F238E27FC236}">
                <a16:creationId xmlns:a16="http://schemas.microsoft.com/office/drawing/2014/main" id="{5202377C-CC6B-1A56-F7DB-D032E788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3" y="543480"/>
            <a:ext cx="800528" cy="640080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an EV in India means juggling apps, not just miles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info is scattered across many separate network apps (E-DRIVE, Tata Power, Statiq, and more).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21040" y="1965960"/>
            <a:ext cx="685800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2104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of the Charger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32104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charger show available when you check it might go offline by the time you arrive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9768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1965960"/>
            <a:ext cx="685800" cy="685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wallets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57200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network needs its own account and its own payment method.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F2A3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86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range anxiety, wasted trips to occupied or broken chargers, and slower EV adoption.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FullCharge — the single app for every charging network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639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locator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charger status pulled across all EV charger providers in one map.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6864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6394D"/>
          </a:solidFill>
          <a:ln/>
        </p:spPr>
      </p:sp>
      <p:sp>
        <p:nvSpPr>
          <p:cNvPr id="10" name="Shape 7"/>
          <p:cNvSpPr/>
          <p:nvPr/>
        </p:nvSpPr>
        <p:spPr>
          <a:xfrm>
            <a:off x="8442960" y="1965960"/>
            <a:ext cx="685800" cy="68580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840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429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Behavior 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44296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 of the charger history, downtime, uptime, maintenance, peak time, charging experience 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61688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16394D"/>
          </a:solidFill>
          <a:ln/>
        </p:spPr>
      </p:sp>
      <p:sp>
        <p:nvSpPr>
          <p:cNvPr id="15" name="Shape 11"/>
          <p:cNvSpPr/>
          <p:nvPr/>
        </p:nvSpPr>
        <p:spPr>
          <a:xfrm>
            <a:off x="4636008" y="1965960"/>
            <a:ext cx="685800" cy="685800"/>
          </a:xfrm>
          <a:prstGeom prst="ellipse">
            <a:avLst/>
          </a:prstGeom>
          <a:solidFill>
            <a:srgbClr val="12747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36008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36008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wallet works across every partner network.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direct API relationship with all EV charger providers for public data access along with detailed analysis of each charger based on historic data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from empty battery to charged and moving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1737360" y="2148840"/>
            <a:ext cx="822960" cy="8229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23591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250" dirty="0" err="1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FullCharge</a:t>
            </a: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Specify the current range/SOC and see every charger within the range, live, across all EV charger providers.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35908" y="3264408"/>
            <a:ext cx="146304" cy="146304"/>
          </a:xfrm>
          <a:prstGeom prst="ellipse">
            <a:avLst/>
          </a:prstGeom>
          <a:solidFill>
            <a:srgbClr val="127475"/>
          </a:solidFill>
          <a:ln/>
        </p:spPr>
      </p:sp>
      <p:sp>
        <p:nvSpPr>
          <p:cNvPr id="10" name="Shape 7"/>
          <p:cNvSpPr/>
          <p:nvPr/>
        </p:nvSpPr>
        <p:spPr>
          <a:xfrm>
            <a:off x="4069080" y="18288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57800" y="2148840"/>
            <a:ext cx="822960" cy="82296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23591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Arrive 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343400" y="3611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slot at the charger that fits your route and timing.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56348" y="3264408"/>
            <a:ext cx="146304" cy="146304"/>
          </a:xfrm>
          <a:prstGeom prst="ellipse">
            <a:avLst/>
          </a:prstGeom>
          <a:solidFill>
            <a:srgbClr val="127475"/>
          </a:solidFill>
          <a:ln/>
        </p:spPr>
      </p:sp>
      <p:sp>
        <p:nvSpPr>
          <p:cNvPr id="16" name="Shape 12"/>
          <p:cNvSpPr/>
          <p:nvPr/>
        </p:nvSpPr>
        <p:spPr>
          <a:xfrm>
            <a:off x="7589520" y="18288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0" y="2148840"/>
            <a:ext cx="822960" cy="822960"/>
          </a:xfrm>
          <a:prstGeom prst="ellipse">
            <a:avLst/>
          </a:prstGeom>
          <a:solidFill>
            <a:srgbClr val="C6F13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52" y="23591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Charge &amp; Pay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863840" y="36118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and pay once — FullCharge settles with the network behind the scenes.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Canvas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entire business, on one page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39903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399032"/>
            <a:ext cx="3541776" cy="320040"/>
          </a:xfrm>
          <a:prstGeom prst="rect">
            <a:avLst/>
          </a:prstGeom>
          <a:solidFill>
            <a:srgbClr val="D9483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9903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EV drivers in India struggle to find nearby chargers because each provider operates its own siloed app, forcing users to download and switch between multiple applications. </a:t>
            </a:r>
          </a:p>
          <a:p>
            <a:r>
              <a:rPr lang="en-IN" sz="1050" dirty="0"/>
              <a:t>Also, this requires the user to maintain multiple </a:t>
            </a: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9872" y="139903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9" name="Shape 7"/>
          <p:cNvSpPr/>
          <p:nvPr/>
        </p:nvSpPr>
        <p:spPr>
          <a:xfrm>
            <a:off x="4309872" y="1399032"/>
            <a:ext cx="3541776" cy="320040"/>
          </a:xfrm>
          <a:prstGeom prst="rect">
            <a:avLst/>
          </a:prstGeom>
          <a:solidFill>
            <a:srgbClr val="127475"/>
          </a:solidFill>
          <a:ln/>
        </p:spPr>
      </p:sp>
      <p:sp>
        <p:nvSpPr>
          <p:cNvPr id="10" name="Text 8"/>
          <p:cNvSpPr/>
          <p:nvPr/>
        </p:nvSpPr>
        <p:spPr>
          <a:xfrm>
            <a:off x="4401312" y="139903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19600" y="178308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A single unified nationwide EV charging platform followed by app that aggregates real-time availability and smart route planning across all major charger networks based on available range. </a:t>
            </a:r>
          </a:p>
          <a:p>
            <a:r>
              <a:rPr lang="en-IN" sz="1050" dirty="0"/>
              <a:t>We will also provide a unified payment gateway to pay using single wallet</a:t>
            </a:r>
          </a:p>
          <a:p>
            <a:endParaRPr lang="en-IN" sz="1050" dirty="0">
              <a:effectLst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97952" y="139903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7952" y="1399032"/>
            <a:ext cx="3541776" cy="320040"/>
          </a:xfrm>
          <a:prstGeom prst="rect">
            <a:avLst/>
          </a:prstGeom>
          <a:solidFill>
            <a:srgbClr val="C77A1F"/>
          </a:solidFill>
          <a:ln/>
        </p:spPr>
      </p:sp>
      <p:sp>
        <p:nvSpPr>
          <p:cNvPr id="14" name="Text 12"/>
          <p:cNvSpPr/>
          <p:nvPr/>
        </p:nvSpPr>
        <p:spPr>
          <a:xfrm>
            <a:off x="8089392" y="139903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07680" y="178308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platform/app listing all the EV charger under one roof With single wallet payment facility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09067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090672"/>
            <a:ext cx="3541776" cy="320040"/>
          </a:xfrm>
          <a:prstGeom prst="rect">
            <a:avLst/>
          </a:prstGeom>
          <a:solidFill>
            <a:srgbClr val="0F2A3D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9067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First-mover unified aggregator with deep partnerships (Tata, BPCL, </a:t>
            </a:r>
            <a:r>
              <a:rPr lang="en-IN" sz="1050" dirty="0" err="1"/>
              <a:t>Statiq</a:t>
            </a:r>
            <a:r>
              <a:rPr lang="en-IN" sz="1050" dirty="0"/>
              <a:t>, </a:t>
            </a:r>
            <a:r>
              <a:rPr lang="en-IN" sz="1050" dirty="0" err="1"/>
              <a:t>ChargeZone</a:t>
            </a:r>
            <a:r>
              <a:rPr lang="en-IN" sz="1050" dirty="0"/>
              <a:t>, etc.) </a:t>
            </a:r>
          </a:p>
          <a:p>
            <a:r>
              <a:rPr lang="en-IN" sz="1050" dirty="0"/>
              <a:t>Real-time data aggregation + proprietary route optimization engine </a:t>
            </a:r>
          </a:p>
          <a:p>
            <a:r>
              <a:rPr lang="en-IN" sz="1050" dirty="0"/>
              <a:t>Unified wallet &amp; payment system (major differentiator)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09872" y="309067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309872" y="3090672"/>
            <a:ext cx="3541776" cy="3200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22" name="Text 20"/>
          <p:cNvSpPr/>
          <p:nvPr/>
        </p:nvSpPr>
        <p:spPr>
          <a:xfrm>
            <a:off x="4401312" y="309067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19600" y="347472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&amp; highway EV owners; fleets; first-time EV buyers,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 operators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97952" y="309067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7952" y="3090672"/>
            <a:ext cx="3541776" cy="320040"/>
          </a:xfrm>
          <a:prstGeom prst="rect">
            <a:avLst/>
          </a:prstGeom>
          <a:solidFill>
            <a:srgbClr val="2E6171"/>
          </a:solidFill>
          <a:ln/>
        </p:spPr>
      </p:sp>
      <p:sp>
        <p:nvSpPr>
          <p:cNvPr id="26" name="Text 24"/>
          <p:cNvSpPr/>
          <p:nvPr/>
        </p:nvSpPr>
        <p:spPr>
          <a:xfrm>
            <a:off x="8089392" y="309067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07680" y="347472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booked/month; Active user/month; New user/month; New operators/months; Advertisement received/month 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" y="478231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" y="4782312"/>
            <a:ext cx="3541776" cy="32004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78231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16636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EV owner communities &amp; forums; </a:t>
            </a: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dealership tie-ups; Digital Marketing ; Outdoor flex; referrals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09872" y="478231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33" name="Shape 31"/>
          <p:cNvSpPr/>
          <p:nvPr/>
        </p:nvSpPr>
        <p:spPr>
          <a:xfrm>
            <a:off x="4309872" y="4782312"/>
            <a:ext cx="3541776" cy="320040"/>
          </a:xfrm>
          <a:prstGeom prst="rect">
            <a:avLst/>
          </a:prstGeom>
          <a:solidFill>
            <a:srgbClr val="5B6B70"/>
          </a:solidFill>
          <a:ln/>
        </p:spPr>
      </p:sp>
      <p:sp>
        <p:nvSpPr>
          <p:cNvPr id="34" name="Text 32"/>
          <p:cNvSpPr/>
          <p:nvPr/>
        </p:nvSpPr>
        <p:spPr>
          <a:xfrm>
            <a:off x="4401312" y="478231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19600" y="516636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50" dirty="0"/>
              <a:t>API &amp; data integration costs (CPOs) Development, hosting &amp; maintenance Customer acquisition (marketing) Payment gateway fees Operations &amp; support team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97952" y="4782312"/>
            <a:ext cx="3541776" cy="1545336"/>
          </a:xfrm>
          <a:prstGeom prst="roundRect">
            <a:avLst>
              <a:gd name="adj" fmla="val 3550"/>
            </a:avLst>
          </a:prstGeom>
          <a:solidFill>
            <a:srgbClr val="F7F9F9"/>
          </a:solidFill>
          <a:ln/>
        </p:spPr>
      </p:sp>
      <p:sp>
        <p:nvSpPr>
          <p:cNvPr id="37" name="Shape 35"/>
          <p:cNvSpPr/>
          <p:nvPr/>
        </p:nvSpPr>
        <p:spPr>
          <a:xfrm>
            <a:off x="7997952" y="4782312"/>
            <a:ext cx="3541776" cy="320040"/>
          </a:xfrm>
          <a:prstGeom prst="rect">
            <a:avLst/>
          </a:prstGeom>
          <a:solidFill>
            <a:srgbClr val="127475"/>
          </a:solidFill>
          <a:ln/>
        </p:spPr>
      </p:sp>
      <p:sp>
        <p:nvSpPr>
          <p:cNvPr id="38" name="Text 36"/>
          <p:cNvSpPr/>
          <p:nvPr/>
        </p:nvSpPr>
        <p:spPr>
          <a:xfrm>
            <a:off x="8089392" y="4782312"/>
            <a:ext cx="3358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07680" y="5166360"/>
            <a:ext cx="33223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Commissions/unit, Advertisement; Platform fees/subscriptions;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bottom-up, working estimates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51076" y="1517650"/>
            <a:ext cx="8686800" cy="1637030"/>
          </a:xfrm>
          <a:prstGeom prst="roundRect">
            <a:avLst>
              <a:gd name="adj" fmla="val 6154"/>
            </a:avLst>
          </a:prstGeom>
          <a:solidFill>
            <a:srgbClr val="16394D"/>
          </a:solidFill>
          <a:ln/>
        </p:spPr>
      </p:sp>
      <p:sp>
        <p:nvSpPr>
          <p:cNvPr id="5" name="Text 3"/>
          <p:cNvSpPr/>
          <p:nvPr/>
        </p:nvSpPr>
        <p:spPr>
          <a:xfrm>
            <a:off x="2025396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11796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~1,800-2,000 Cr 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85516" y="338328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16394D"/>
          </a:solidFill>
          <a:ln/>
        </p:spPr>
      </p:sp>
      <p:sp>
        <p:nvSpPr>
          <p:cNvPr id="9" name="Text 7"/>
          <p:cNvSpPr/>
          <p:nvPr/>
        </p:nvSpPr>
        <p:spPr>
          <a:xfrm>
            <a:off x="3215386" y="37444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5040" y="37475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~550-600 Cr 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265676" y="48006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16394D"/>
          </a:solidFill>
          <a:ln/>
        </p:spPr>
      </p:sp>
      <p:sp>
        <p:nvSpPr>
          <p:cNvPr id="13" name="Text 11"/>
          <p:cNvSpPr/>
          <p:nvPr/>
        </p:nvSpPr>
        <p:spPr>
          <a:xfrm>
            <a:off x="4585716" y="516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42916" y="5164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~55-60 Cr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working estimates based on national EV registration trends; to be refined with state transport authority data.</a:t>
            </a:r>
            <a:endParaRPr lang="en-US" sz="10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7D689BC-8010-6627-36E2-F5D5FE45C32E}"/>
              </a:ext>
            </a:extLst>
          </p:cNvPr>
          <p:cNvSpPr/>
          <p:nvPr/>
        </p:nvSpPr>
        <p:spPr>
          <a:xfrm>
            <a:off x="5607050" y="2625598"/>
            <a:ext cx="4769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D04FA75-B7F0-82CD-AC55-C4717387C1D4}"/>
              </a:ext>
            </a:extLst>
          </p:cNvPr>
          <p:cNvSpPr/>
          <p:nvPr/>
        </p:nvSpPr>
        <p:spPr>
          <a:xfrm>
            <a:off x="1751076" y="2571496"/>
            <a:ext cx="862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***India has a total of ~5 Lakh EV Cars On road till March-26 | Expected YOY Growth: 40%-55% each year until 2030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~Only 7.7% of PV market is EV</a:t>
            </a:r>
          </a:p>
          <a:p>
            <a:pPr marL="0" indent="0">
              <a:buNone/>
            </a:pPr>
            <a:endParaRPr lang="en-US" sz="1400" dirty="0">
              <a:solidFill>
                <a:srgbClr val="C7D6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our first 100 customers — and beyond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Marketing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access to all the EV owners via EV communities. Early birds will get 1</a:t>
            </a:r>
            <a:r>
              <a:rPr lang="en-US" sz="1250" baseline="30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 or 1,000 Rs in the wallet 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8830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62620" y="1965960"/>
            <a:ext cx="685800" cy="685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06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6262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tie-ups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26262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FullCharge with new EV purchases through local dealerships.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68470" y="16916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42790" y="1965960"/>
            <a:ext cx="685800" cy="6858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238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4279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542790" y="32461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various medium like social media, bulk marketing, Advertising, SEO optimization 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 — see accompanying spreadsheet for live formulas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2A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/ session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2A3D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active user / 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2A3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~₹5300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LTV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0F2A3D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57276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0" y="2331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user</a:t>
            </a:r>
            <a:endParaRPr lang="en-US" sz="115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2270621898"/>
              </p:ext>
            </p:extLst>
          </p:nvPr>
        </p:nvGraphicFramePr>
        <p:xfrm>
          <a:off x="548640" y="310896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035040" y="310896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7F9F9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37033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session spend: ₹750, commission 15%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sessions booked / active user /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expected active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from ₹50 Lacs monthly marketing ÷ 5000 new users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Evidence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37540" y="11049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r>
              <a:rPr lang="en-US" sz="1500" i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r>
              <a:rPr lang="en-US" sz="1500" i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Why am I not able to see this charger in Google Maps or </a:t>
            </a:r>
            <a:r>
              <a:rPr lang="en-US" sz="16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Plugshare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32929" y="3154680"/>
            <a:ext cx="42141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Guru Charan R, Tirupati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6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that changed our idea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4211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617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just know where the charger are exactly if there is one around us, irrespective of the service provider, per unit cost.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113DE1C-8F06-49E4-2AE6-D3C0C0F32926}"/>
              </a:ext>
            </a:extLst>
          </p:cNvPr>
          <p:cNvSpPr/>
          <p:nvPr/>
        </p:nvSpPr>
        <p:spPr>
          <a:xfrm>
            <a:off x="1463040" y="27203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There was a E-Drive charger online but when we reached there it was not working for some technical reason"</a:t>
            </a:r>
            <a:endParaRPr lang="en-US" sz="16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BAA7F89-7255-DEAA-D88A-E0CFE33CA050}"/>
              </a:ext>
            </a:extLst>
          </p:cNvPr>
          <p:cNvSpPr/>
          <p:nvPr/>
        </p:nvSpPr>
        <p:spPr>
          <a:xfrm>
            <a:off x="7107693" y="2274570"/>
            <a:ext cx="42141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Sourabh Saha, Ballarpur</a:t>
            </a:r>
            <a:endParaRPr lang="en-US" sz="12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188720"/>
            <a:ext cx="997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launch: </a:t>
            </a:r>
            <a:r>
              <a:rPr lang="en-US" sz="22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</a:rPr>
              <a:t>1 Cr (At 10 Cr valuation pre-funding), 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E-DRIVE / partner API integration, app development, marketing, payment gateway integration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F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0215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Sourabh Saha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MBA, BE, Entrepreneur, Group Manager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CEO — vision &amp; pitch narrative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5968" y="33375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sp>
        <p:nvSpPr>
          <p:cNvPr id="11" name="Text 8"/>
          <p:cNvSpPr/>
          <p:nvPr/>
        </p:nvSpPr>
        <p:spPr>
          <a:xfrm>
            <a:off x="4544568" y="350215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Charan R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Realtor, Digital Marketer, Student, Founder of growing student community.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544568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Finance (CMO) — GTM &amp; unit economics</a:t>
            </a:r>
          </a:p>
        </p:txBody>
      </p:sp>
      <p:sp>
        <p:nvSpPr>
          <p:cNvPr id="13" name="Shape 10"/>
          <p:cNvSpPr/>
          <p:nvPr/>
        </p:nvSpPr>
        <p:spPr>
          <a:xfrm>
            <a:off x="8083296" y="3337560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sp>
        <p:nvSpPr>
          <p:cNvPr id="14" name="Text 11"/>
          <p:cNvSpPr/>
          <p:nvPr/>
        </p:nvSpPr>
        <p:spPr>
          <a:xfrm>
            <a:off x="8311896" y="350215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Sonwane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BE, Developer, Prompt Engineer, Tech Nerd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311896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Ops (CTO) — prototype &amp; business model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FullCharge  •  One app. Every charger. One payment.  •  HimShikhar 2026</a:t>
            </a:r>
            <a:endParaRPr lang="en-US" sz="12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0AB9A724-5F1A-8770-6B9A-112591708E16}"/>
              </a:ext>
            </a:extLst>
          </p:cNvPr>
          <p:cNvSpPr/>
          <p:nvPr/>
        </p:nvSpPr>
        <p:spPr>
          <a:xfrm>
            <a:off x="548640" y="4873752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2BCA7BB3-2C42-5DFE-487D-F7FB5EDC8BB3}"/>
              </a:ext>
            </a:extLst>
          </p:cNvPr>
          <p:cNvSpPr/>
          <p:nvPr/>
        </p:nvSpPr>
        <p:spPr>
          <a:xfrm>
            <a:off x="777240" y="503834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Verma</a:t>
            </a:r>
          </a:p>
          <a:p>
            <a:pPr marL="0" indent="0">
              <a:buNone/>
            </a:pPr>
            <a:r>
              <a:rPr lang="en-US" sz="1200" b="1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A3458B6-3AB3-FDF3-C5C9-349E48034B3E}"/>
              </a:ext>
            </a:extLst>
          </p:cNvPr>
          <p:cNvSpPr/>
          <p:nvPr/>
        </p:nvSpPr>
        <p:spPr>
          <a:xfrm>
            <a:off x="777240" y="542239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member- Marketing </a:t>
            </a:r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05966B74-1D4E-B5A1-5142-654790626C3B}"/>
              </a:ext>
            </a:extLst>
          </p:cNvPr>
          <p:cNvSpPr/>
          <p:nvPr/>
        </p:nvSpPr>
        <p:spPr>
          <a:xfrm>
            <a:off x="4326636" y="4873752"/>
            <a:ext cx="3538728" cy="1371600"/>
          </a:xfrm>
          <a:prstGeom prst="roundRect">
            <a:avLst>
              <a:gd name="adj" fmla="val 5333"/>
            </a:avLst>
          </a:prstGeom>
          <a:solidFill>
            <a:srgbClr val="16394D"/>
          </a:solidFill>
          <a:ln/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DF9A108-2895-5B47-19A1-97E8D7E31E63}"/>
              </a:ext>
            </a:extLst>
          </p:cNvPr>
          <p:cNvSpPr/>
          <p:nvPr/>
        </p:nvSpPr>
        <p:spPr>
          <a:xfrm>
            <a:off x="4555236" y="5038344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Murjani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E7BA314F-3CCB-3D21-5297-A05E4E4786B2}"/>
              </a:ext>
            </a:extLst>
          </p:cNvPr>
          <p:cNvSpPr/>
          <p:nvPr/>
        </p:nvSpPr>
        <p:spPr>
          <a:xfrm>
            <a:off x="4555236" y="5422392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member- Finance</a:t>
            </a:r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982</Words>
  <Application>Microsoft Office PowerPoint</Application>
  <PresentationFormat>Widescreen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FullCharge — HimShikhar 2026 Capstone Pitch</dc:title>
  <dc:subject>PptxGenJS Presentation</dc:subject>
  <dc:creator>FullCharge Team</dc:creator>
  <cp:lastModifiedBy>Guru Charan Rayadurgam</cp:lastModifiedBy>
  <cp:revision>3</cp:revision>
  <dcterms:created xsi:type="dcterms:W3CDTF">2026-07-08T19:18:40Z</dcterms:created>
  <dcterms:modified xsi:type="dcterms:W3CDTF">2026-07-09T09:23:52Z</dcterms:modified>
</cp:coreProperties>
</file>